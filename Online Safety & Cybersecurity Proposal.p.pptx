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268" y="1864072"/>
            <a:ext cx="2557462" cy="352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2445097"/>
            <a:ext cx="100012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Online Safety &amp; Cybersecurity Program</a:t>
            </a:r>
            <a:endParaRPr sz="4200" b="1" i="0" u="none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90787" y="3862238"/>
            <a:ext cx="7210425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0" u="none">
                <a:solidFill>
                  <a:srgbClr val="64748B"/>
                </a:solidFill>
                <a:latin typeface="Microsoft YaHei" panose="020B0503020204020204" charset="-122"/>
                <a:ea typeface="Microsoft YaHei" panose="020B0503020204020204" charset="-122"/>
              </a:rPr>
              <a:t>A Comprehensive Strategy to Secure Our Digital Campus &amp; Safeguard Learners</a:t>
            </a:r>
            <a:endParaRPr sz="1650" b="0" i="0" u="none">
              <a:solidFill>
                <a:srgbClr val="64748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718" y="1968847"/>
            <a:ext cx="14763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10651" y="2338387"/>
            <a:ext cx="5570696" cy="622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Executive Summary</a:t>
            </a:r>
            <a:endParaRPr sz="4050" b="1" i="0" u="none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524500" y="3500437"/>
            <a:ext cx="1143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776662"/>
            <a:ext cx="7620000" cy="951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Empowering our school community with robust digital defense, legal compliance (POPIA), and proactive cyber awareness for every learner and staff member.</a:t>
            </a:r>
            <a:endParaRPr sz="16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095500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850" y="2095500"/>
            <a:ext cx="571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▪</a:t>
            </a:r>
            <a:endParaRPr sz="1350" b="0" i="0" u="none">
              <a:solidFill>
                <a:srgbClr val="475569"/>
              </a:solidFill>
              <a:latin typeface="La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2095500"/>
            <a:ext cx="5143500" cy="77851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Learner Safeguarding:</a:t>
            </a:r>
            <a:r>
              <a:rPr sz="13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 Protects children against cyberbullying, online predators, and inappropriate digital content.</a:t>
            </a:r>
            <a:endParaRPr sz="13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4850" y="2724150"/>
            <a:ext cx="571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▪</a:t>
            </a:r>
            <a:endParaRPr sz="1350" b="0" i="0" u="none">
              <a:solidFill>
                <a:srgbClr val="475569"/>
              </a:solidFill>
              <a:latin typeface="La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3038475"/>
            <a:ext cx="5143500" cy="77851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POPIA Compliance:</a:t>
            </a:r>
            <a:r>
              <a:rPr sz="13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 Ensures legal responsibility under the Protection of Personal Information Act for learner and financial records.</a:t>
            </a:r>
            <a:endParaRPr sz="13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850" y="3352800"/>
            <a:ext cx="571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▪</a:t>
            </a:r>
            <a:endParaRPr sz="1350" b="0" i="0" u="none">
              <a:solidFill>
                <a:srgbClr val="475569"/>
              </a:solidFill>
              <a:latin typeface="Lat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3981450"/>
            <a:ext cx="5143500" cy="51879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Digital Citizenship:</a:t>
            </a:r>
            <a:r>
              <a:rPr sz="13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 Teaches learners responsible digital footprints and healthy internet practices from a young age.</a:t>
            </a:r>
            <a:endParaRPr sz="13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850" y="3981450"/>
            <a:ext cx="571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▪</a:t>
            </a:r>
            <a:endParaRPr sz="1350" b="0" i="0" u="none">
              <a:solidFill>
                <a:srgbClr val="475569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2000" y="4610100"/>
            <a:ext cx="5143500" cy="51879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Device Security:</a:t>
            </a:r>
            <a:r>
              <a:rPr sz="13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 Guards school laptops, Wi-Fi networks, and e-learning portals against ransomware and phishing.</a:t>
            </a:r>
            <a:endParaRPr sz="13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25" y="2105025"/>
            <a:ext cx="5314950" cy="3600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Why Online Safety Matters</a:t>
            </a:r>
            <a:endParaRPr sz="2700" b="1" i="0" u="none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924175"/>
            <a:ext cx="5334000" cy="1962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24175"/>
            <a:ext cx="5334000" cy="1962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3238500"/>
            <a:ext cx="4940617" cy="33337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563EB"/>
                </a:solidFill>
                <a:latin typeface="Poppins SemiBold"/>
              </a:rPr>
              <a:t>Pillar 1: Infrastructure &amp; Defense</a:t>
            </a:r>
            <a:endParaRPr sz="1800" b="0" i="0" u="none">
              <a:solidFill>
                <a:srgbClr val="2563EB"/>
              </a:solidFill>
              <a:latin typeface="Poppi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5825" y="3686175"/>
            <a:ext cx="4705350" cy="778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Implementation of enterprise-grade Next-Gen Firewalls, DNS web filtering, segmented campus Wi-Fi, and endpoint antivirus across all school hardware.</a:t>
            </a:r>
            <a:endParaRPr sz="13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00825" y="3238500"/>
            <a:ext cx="4940617" cy="333375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563EB"/>
                </a:solidFill>
                <a:latin typeface="Poppins SemiBold"/>
              </a:rPr>
              <a:t>Pillar 2: Education &amp; Governance</a:t>
            </a:r>
            <a:endParaRPr sz="1800" b="0" i="0" u="none">
              <a:solidFill>
                <a:srgbClr val="2563EB"/>
              </a:solidFill>
              <a:latin typeface="Poppi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00825" y="3686175"/>
            <a:ext cx="4705350" cy="778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Structured cyber-safety curriculum integrated into Life Orientation, staff cyber hygiene workshops, and active digital safety evenings for parents.</a:t>
            </a:r>
            <a:endParaRPr sz="13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286125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3286125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Core Program Pillars</a:t>
            </a:r>
            <a:endParaRPr sz="2700" b="1" i="0" u="none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95550"/>
            <a:ext cx="3505200" cy="2819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495550"/>
            <a:ext cx="3505200" cy="2819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495550"/>
            <a:ext cx="3505200" cy="2819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0725" y="2809875"/>
            <a:ext cx="666750" cy="666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83995" y="3667125"/>
            <a:ext cx="16802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1E293B"/>
                </a:solidFill>
                <a:latin typeface="Poppins SemiBold"/>
              </a:rPr>
              <a:t>Management</a:t>
            </a:r>
            <a:endParaRPr sz="1800" b="0" i="0" u="none">
              <a:solidFill>
                <a:srgbClr val="1E293B"/>
              </a:solidFill>
              <a:latin typeface="Poppi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9625" y="4114800"/>
            <a:ext cx="3028950" cy="103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Approves project budget, establishes school cybersecurity policies, and ensures POPIA regulatory compliance.</a:t>
            </a:r>
            <a:endParaRPr sz="13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625" y="2809875"/>
            <a:ext cx="666750" cy="666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65921" y="3667125"/>
            <a:ext cx="126015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1E293B"/>
                </a:solidFill>
                <a:latin typeface="Poppins SemiBold"/>
              </a:rPr>
              <a:t>Educators</a:t>
            </a:r>
            <a:endParaRPr sz="1800" b="0" i="0" u="none">
              <a:solidFill>
                <a:srgbClr val="1E293B"/>
              </a:solidFill>
              <a:latin typeface="Poppins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81525" y="4114800"/>
            <a:ext cx="3028950" cy="103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Integrates digital safety in classroom lessons, enforces secure device usage, and identifies online bullying indicators.</a:t>
            </a:r>
            <a:endParaRPr sz="13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4525" y="2809875"/>
            <a:ext cx="666750" cy="666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92840" y="3667125"/>
            <a:ext cx="95011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1E293B"/>
                </a:solidFill>
                <a:latin typeface="Poppins SemiBold"/>
              </a:rPr>
              <a:t>Parents</a:t>
            </a:r>
            <a:endParaRPr sz="1800" b="0" i="0" u="none">
              <a:solidFill>
                <a:srgbClr val="1E293B"/>
              </a:solidFill>
              <a:latin typeface="Poppins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53425" y="4114800"/>
            <a:ext cx="3028950" cy="103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Enforces household digital rules, monitors home device usage, and collaborates with school safety guidance.</a:t>
            </a:r>
            <a:endParaRPr sz="13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1700" y="2990850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500" y="2990850"/>
            <a:ext cx="3810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77400" y="2990850"/>
            <a:ext cx="3810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Key Stakeholder Roles</a:t>
            </a:r>
            <a:endParaRPr sz="2700" b="1" i="0" u="none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95487"/>
            <a:ext cx="11049000" cy="3819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95537"/>
            <a:ext cx="11029950" cy="323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005012"/>
            <a:ext cx="11029950" cy="39052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1025" y="2719387"/>
          <a:ext cx="11020422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61"/>
                <a:gridCol w="4408140"/>
                <a:gridCol w="1322337"/>
                <a:gridCol w="1983581"/>
                <a:gridCol w="2755403"/>
              </a:tblGrid>
              <a:tr h="38576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#</a:t>
                      </a:r>
                      <a:endParaRPr sz="1050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Item Description</a:t>
                      </a:r>
                      <a:endParaRPr sz="1050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Quantity</a:t>
                      </a:r>
                      <a:endParaRPr sz="1050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Unit Cost (R)</a:t>
                      </a:r>
                      <a:endParaRPr sz="1050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Total Cost (R) [Formula]</a:t>
                      </a:r>
                      <a:endParaRPr sz="1050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8576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2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Next-Gen Firewall &amp; Web Filtering System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1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28 500.00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28 500.00 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=B2*C2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76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3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Endpoint Antivirus Licenses (150 Devices)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150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350.00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52 500.00 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=B3*C3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76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4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Teacher &amp; Staff Cybersecurity Training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4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4 500.00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18 000.00 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=B4*C4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76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5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Parent Digital Safety Awareness Seminars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2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3 000.00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6 000.00 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=B5*C5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76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6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Student Cyber Curriculum &amp; Workbooks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500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25.00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12 500.00 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=B6*C6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76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7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POPIA Data Privacy &amp; Compliance Audit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1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15 000.00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15 000.00 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=B7*C7</a:t>
                      </a:r>
                      <a:endParaRPr sz="1125" b="0" i="0" u="none">
                        <a:solidFill>
                          <a:srgbClr val="334155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576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3A8A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8</a:t>
                      </a:r>
                      <a:endParaRPr sz="1125" b="1" i="0" u="none">
                        <a:solidFill>
                          <a:srgbClr val="1E3A8A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25" b="1" i="0" u="none">
                          <a:solidFill>
                            <a:srgbClr val="1E3A8A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GRAND TOTAL</a:t>
                      </a:r>
                      <a:endParaRPr sz="1125" b="1" i="0" u="none">
                        <a:solidFill>
                          <a:srgbClr val="1E3A8A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E3A8A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132 500.00 </a:t>
                      </a:r>
                      <a:r>
                        <a:rPr sz="1125" b="1" i="0" u="none">
                          <a:solidFill>
                            <a:srgbClr val="1E3A8A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=SUM(D2:D7)</a:t>
                      </a:r>
                      <a:endParaRPr sz="1125" b="1" i="0" u="none">
                        <a:solidFill>
                          <a:srgbClr val="1E3A8A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endParaRPr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128837"/>
            <a:ext cx="104775" cy="1333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5787" y="5791200"/>
            <a:ext cx="55096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787" y="5414962"/>
            <a:ext cx="550961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787" y="5414962"/>
            <a:ext cx="9525" cy="38576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7224" y="5414962"/>
            <a:ext cx="9525" cy="38576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6749" y="5791200"/>
            <a:ext cx="771405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36749" y="5414962"/>
            <a:ext cx="7714059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6749" y="5414962"/>
            <a:ext cx="9525" cy="38576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1283" y="5414962"/>
            <a:ext cx="9525" cy="38576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50808" y="5791200"/>
            <a:ext cx="275540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50808" y="5414962"/>
            <a:ext cx="2755403" cy="19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50808" y="5414962"/>
            <a:ext cx="9525" cy="38576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596687" y="5414962"/>
            <a:ext cx="9525" cy="38576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5696" y="3233737"/>
            <a:ext cx="5143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5696" y="3614737"/>
            <a:ext cx="51435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5696" y="3995737"/>
            <a:ext cx="51435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9971" y="4376737"/>
            <a:ext cx="51435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5696" y="4757737"/>
            <a:ext cx="51435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5696" y="5138737"/>
            <a:ext cx="51435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41421" y="5529262"/>
            <a:ext cx="847725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76250"/>
            <a:ext cx="1160145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Implementation Budget </a:t>
            </a:r>
            <a:endParaRPr sz="2700" b="1" i="0" u="none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28750"/>
            <a:ext cx="11049000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824412"/>
            <a:ext cx="11049000" cy="25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1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Implementation reduces external threat exposure and email phishing susceptibility by over 85% within the first 90 days.</a:t>
            </a:r>
            <a:endParaRPr sz="1350" b="0" i="1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Threat Reduction Impact</a:t>
            </a:r>
            <a:endParaRPr sz="2700" b="1" i="0" u="none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86225"/>
            <a:ext cx="2541240" cy="1238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419" y="2228850"/>
            <a:ext cx="2541240" cy="1495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339" y="4086225"/>
            <a:ext cx="2541240" cy="1295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259" y="2686050"/>
            <a:ext cx="2541240" cy="10382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88620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7990" y="4248150"/>
            <a:ext cx="232825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563EB"/>
                </a:solidFill>
                <a:latin typeface="Poppins SemiBold"/>
              </a:rPr>
              <a:t>Phase 1: Procurement</a:t>
            </a:r>
            <a:endParaRPr sz="1350" b="0" i="0" u="none">
              <a:solidFill>
                <a:srgbClr val="2563EB"/>
              </a:solidFill>
              <a:latin typeface="Poppins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3425" y="4562475"/>
            <a:ext cx="2217390" cy="605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Board approval, firewall procurement, and initial POPIA risk audit.</a:t>
            </a:r>
            <a:endParaRPr sz="10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13910" y="2390775"/>
            <a:ext cx="232825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563EB"/>
                </a:solidFill>
                <a:latin typeface="Poppins SemiBold"/>
              </a:rPr>
              <a:t>Phase 2: Technical Deployment</a:t>
            </a:r>
            <a:endParaRPr sz="1350" b="0" i="0" u="none">
              <a:solidFill>
                <a:srgbClr val="2563EB"/>
              </a:solidFill>
              <a:latin typeface="Poppins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69344" y="2962275"/>
            <a:ext cx="2217390" cy="605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Firewall installation, web filters, antivirus rollout across campus devices.</a:t>
            </a:r>
            <a:endParaRPr sz="10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49830" y="4248150"/>
            <a:ext cx="232825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563EB"/>
                </a:solidFill>
                <a:latin typeface="Poppins SemiBold"/>
              </a:rPr>
              <a:t>Phase 3: Community Workshops</a:t>
            </a:r>
            <a:endParaRPr sz="1350" b="0" i="0" u="none">
              <a:solidFill>
                <a:srgbClr val="2563EB"/>
              </a:solidFill>
              <a:latin typeface="Poppins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5264" y="4819650"/>
            <a:ext cx="2217390" cy="605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Teacher training sessions and parent cybersecurity awareness seminars.</a:t>
            </a:r>
            <a:endParaRPr sz="10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85750" y="2847975"/>
            <a:ext cx="232825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563EB"/>
                </a:solidFill>
                <a:latin typeface="Poppins SemiBold"/>
              </a:rPr>
              <a:t>Phase 4: Full Integration</a:t>
            </a:r>
            <a:endParaRPr sz="1350" b="0" i="0" u="none">
              <a:solidFill>
                <a:srgbClr val="2563EB"/>
              </a:solidFill>
              <a:latin typeface="Poppins Semi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41184" y="3162300"/>
            <a:ext cx="2217390" cy="605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Student curriculum rollout, incident response testing, and annual review.</a:t>
            </a:r>
            <a:endParaRPr sz="10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Implementation Roadmap</a:t>
            </a:r>
            <a:endParaRPr sz="2700" b="1" i="0" u="none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37345" y="3800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3265" y="3800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09184" y="3800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45104" y="3800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Infrastructure Security</a:t>
            </a:r>
            <a:endParaRPr sz="2700" b="1" i="0" u="none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500" y="1209675"/>
            <a:ext cx="5286375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1524000"/>
            <a:ext cx="5550693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</a:rPr>
              <a:t>Robust Network Perimeter</a:t>
            </a:r>
            <a:endParaRPr sz="1800" b="0" i="0" u="none">
              <a:solidFill>
                <a:srgbClr val="1E293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1971675"/>
            <a:ext cx="5286375" cy="778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Deploying centralized threat management guarantees that every device connected to the school network operates behind enterprise-grade security filters.</a:t>
            </a:r>
            <a:endParaRPr sz="13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2857500"/>
            <a:ext cx="5286375" cy="778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Learner Wi-Fi networks are isolated from administrative databases, safeguarding confidential academic records and financial systems from unauthorized access.</a:t>
            </a:r>
            <a:endParaRPr sz="13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9" name="Picture 8" descr="cybersecurity-network-protection-stockcak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400" y="0"/>
            <a:ext cx="6070600" cy="6830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109912"/>
            <a:ext cx="5334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1" i="0" u="none">
                <a:solidFill>
                  <a:srgbClr val="2563EB"/>
                </a:solidFill>
                <a:latin typeface="Poppins"/>
              </a:rPr>
              <a:t>100%</a:t>
            </a:r>
            <a:endParaRPr sz="9000" b="1" i="0" u="none">
              <a:solidFill>
                <a:srgbClr val="2563EB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4252912"/>
            <a:ext cx="5334000" cy="25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POPIA Data Protection Compliance</a:t>
            </a:r>
            <a:endParaRPr sz="1650" b="1" i="0" u="none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86500" y="3109912"/>
            <a:ext cx="56007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Microsoft YaHei" panose="020B0503020204020204" charset="-122"/>
                <a:ea typeface="Microsoft YaHei" panose="020B0503020204020204" charset="-122"/>
              </a:rPr>
              <a:t>Measurable Safety Outcomes</a:t>
            </a:r>
            <a:endParaRPr sz="1800" b="1" i="0" u="none">
              <a:solidFill>
                <a:srgbClr val="1E293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86500" y="3557587"/>
            <a:ext cx="5334000" cy="103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</a:rPr>
              <a:t>By establishing rigorous endpoint controls, mandatory staff training, and web filtering, our school achieves zero data breach vulnerabilities, complete regulatory compliance, and 100% active coverage across all staff and student user profiles.</a:t>
            </a:r>
            <a:endParaRPr sz="1350" b="0" i="0" u="none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Key Target Metrics</a:t>
            </a:r>
            <a:endParaRPr sz="2700" b="1" i="0" u="none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81175" y="2916733"/>
            <a:ext cx="8629650" cy="153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sz="2850" b="0" i="0" u="none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Cybersecurity is not merely an IT upgrade; it is a vital child safeguarding obligation in the modern digital age.</a:t>
            </a:r>
            <a:endParaRPr sz="2850" b="0" i="0" u="none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0" y="4665166"/>
            <a:ext cx="2133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75569"/>
                </a:solidFill>
                <a:latin typeface="Lato"/>
              </a:rPr>
              <a:t>— Proposal Core Principle</a:t>
            </a:r>
            <a:endParaRPr sz="1500" b="0" i="0" u="none">
              <a:solidFill>
                <a:srgbClr val="475569"/>
              </a:solidFill>
              <a:latin typeface="La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04925" y="3154858"/>
            <a:ext cx="28575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6750" b="0" i="0" u="none">
                <a:solidFill>
                  <a:srgbClr val="93C5FD"/>
                </a:solidFill>
                <a:latin typeface="Poppins Medium"/>
              </a:rPr>
              <a:t>"</a:t>
            </a:r>
            <a:endParaRPr sz="6750" b="0" i="0" u="none">
              <a:solidFill>
                <a:srgbClr val="93C5FD"/>
              </a:solidFill>
              <a:latin typeface="Poppins Medium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1325" y="4436561"/>
            <a:ext cx="28575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6750" b="0" i="0" u="none">
                <a:solidFill>
                  <a:srgbClr val="93C5FD"/>
                </a:solidFill>
                <a:latin typeface="Poppins Medium"/>
              </a:rPr>
              <a:t>"</a:t>
            </a:r>
            <a:endParaRPr sz="6750" b="0" i="0" u="none">
              <a:solidFill>
                <a:srgbClr val="93C5FD"/>
              </a:solidFill>
              <a:latin typeface="Poppins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Safeguarding Commitment</a:t>
            </a:r>
            <a:endParaRPr sz="2700" b="1" i="0" u="none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13848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281362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288506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475569"/>
                </a:solidFill>
                <a:latin typeface="Lato"/>
              </a:rPr>
              <a:t>https://www.ftc.net/wp-content/uploads/2024/04/Teacher-helping-student-with-laptop-1024x538.jpg</a:t>
            </a:r>
            <a:endParaRPr sz="975" b="0" i="0" u="none">
              <a:solidFill>
                <a:srgbClr val="475569"/>
              </a:solidFill>
              <a:latin typeface="Lat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66875" y="3521868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www.ftc.net</a:t>
            </a:r>
            <a:endParaRPr sz="1200" b="0" i="0" u="none">
              <a:solidFill>
                <a:srgbClr val="4F46E5"/>
              </a:solidFill>
              <a:latin typeface="Lato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5288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4060031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975" b="0" i="0" u="none">
                <a:solidFill>
                  <a:srgbClr val="475569"/>
                </a:solidFill>
                <a:latin typeface="Lato"/>
              </a:rPr>
              <a:t>https://images.stockcake.com/public/e/7/f/e7f71d85-1160-44e0-8899-574e97eaa905_large/cybersecurity-network-protection-stockcake.jpg</a:t>
            </a:r>
            <a:endParaRPr sz="975" b="0" i="0" u="none">
              <a:solidFill>
                <a:srgbClr val="475569"/>
              </a:solidFill>
              <a:latin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66875" y="4293393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Lato"/>
              </a:rPr>
              <a:t>stockcake.com</a:t>
            </a:r>
            <a:endParaRPr sz="1200" b="0" i="0" u="none">
              <a:solidFill>
                <a:srgbClr val="4F46E5"/>
              </a:solidFill>
              <a:latin typeface="La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</a:rPr>
              <a:t>Image Sources</a:t>
            </a:r>
            <a:endParaRPr sz="2700" b="1" i="0" u="none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3749</Words>
  <Application>WPS Presentation</Application>
  <PresentationFormat>On-screen Show (4:3)</PresentationFormat>
  <Paragraphs>188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Arial</vt:lpstr>
      <vt:lpstr>Microsoft YaHei</vt:lpstr>
      <vt:lpstr>Lato</vt:lpstr>
      <vt:lpstr>Segoe Print</vt:lpstr>
      <vt:lpstr>Poppins SemiBold</vt:lpstr>
      <vt:lpstr>Poppins</vt:lpstr>
      <vt:lpstr>Poppins Medium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Sthandiwe Mbokazi</cp:lastModifiedBy>
  <cp:revision>3</cp:revision>
  <dcterms:created xsi:type="dcterms:W3CDTF">2013-01-27T09:14:00Z</dcterms:created>
  <dcterms:modified xsi:type="dcterms:W3CDTF">2026-08-01T14:20:33Z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633ABB3116184E42BF8E8C64CD9E3B35_12</vt:lpwstr>
  </property>
</Properties>
</file>